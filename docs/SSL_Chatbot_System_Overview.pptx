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SSL Sustainable Solutions Lab Chatbot —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12880" cy="27432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r>
              <a:rPr sz="1300" b="1">
                <a:solidFill>
                  <a:srgbClr val="0F2A4A"/>
                </a:solidFill>
              </a:rPr>
              <a:t>Request flow — from user question to streamed answer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138760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0E7C86"/>
                </a:solidFill>
              </a:rPr>
              <a:t>1. Receive</a:t>
            </a:r>
          </a:p>
          <a:p>
            <a:r>
              <a:rPr sz="900">
                <a:solidFill>
                  <a:srgbClr val="333333"/>
                </a:solidFill>
              </a:rPr>
              <a:t>Flask /api/chat
user_message + history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61922.0" y="1394460.0"/>
            <a:ext cx="73152.0" cy="0.0"/>
          </a:xfrm>
          <a:prstGeom prst="bentConnector3">
            <a:avLst/>
          </a:prstGeom>
          <a:ln w="190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35074" y="1005840"/>
            <a:ext cx="138760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0E7C86"/>
                </a:solidFill>
              </a:rPr>
              <a:t>2. Resolve</a:t>
            </a:r>
          </a:p>
          <a:p>
            <a:r>
              <a:rPr sz="900">
                <a:solidFill>
                  <a:srgbClr val="333333"/>
                </a:solidFill>
              </a:rPr>
              <a:t>follow-up resolver
+ generic anchor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22676.0" y="1394460.0"/>
            <a:ext cx="73152.0" cy="0.0"/>
          </a:xfrm>
          <a:prstGeom prst="bentConnector3">
            <a:avLst/>
          </a:prstGeom>
          <a:ln w="190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95828" y="1005840"/>
            <a:ext cx="138760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0E7C86"/>
                </a:solidFill>
              </a:rPr>
              <a:t>3. Route</a:t>
            </a:r>
          </a:p>
          <a:p>
            <a:r>
              <a:rPr sz="900">
                <a:solidFill>
                  <a:srgbClr val="333333"/>
                </a:solidFill>
              </a:rPr>
              <a:t>detect_local_query_route
intent classifier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83430.0" y="1394460.0"/>
            <a:ext cx="73152.0" cy="0.0"/>
          </a:xfrm>
          <a:prstGeom prst="bentConnector3">
            <a:avLst/>
          </a:prstGeom>
          <a:ln w="190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56582" y="1005840"/>
            <a:ext cx="138760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0F2A4A"/>
                </a:solidFill>
              </a:rPr>
              <a:t>4. Fast path</a:t>
            </a:r>
          </a:p>
          <a:p>
            <a:r>
              <a:rPr sz="900">
                <a:solidFill>
                  <a:srgbClr val="333333"/>
                </a:solidFill>
              </a:rPr>
              <a:t>section / entity /
document registries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44184.0" y="1394460.0"/>
            <a:ext cx="73152.0" cy="0.0"/>
          </a:xfrm>
          <a:prstGeom prst="bentConnector3">
            <a:avLst/>
          </a:prstGeom>
          <a:ln w="190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7336" y="1005840"/>
            <a:ext cx="138760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0F2A4A"/>
                </a:solidFill>
              </a:rPr>
              <a:t>5. Retrieve</a:t>
            </a:r>
          </a:p>
          <a:p>
            <a:r>
              <a:rPr sz="900">
                <a:solidFill>
                  <a:srgbClr val="333333"/>
                </a:solidFill>
              </a:rPr>
              <a:t>Chroma dense + BM25
fused via RRF + rerank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04938.0" y="1394460.0"/>
            <a:ext cx="73152.0" cy="0.0"/>
          </a:xfrm>
          <a:prstGeom prst="bentConnector3">
            <a:avLst/>
          </a:prstGeom>
          <a:ln w="190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78090" y="1005840"/>
            <a:ext cx="138760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6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E56B1F"/>
                </a:solidFill>
              </a:rPr>
              <a:t>6. Plan?</a:t>
            </a:r>
          </a:p>
          <a:p>
            <a:r>
              <a:rPr sz="900">
                <a:solidFill>
                  <a:srgbClr val="333333"/>
                </a:solidFill>
              </a:rPr>
              <a:t>low-conf: plan_query_with_llm
(Gemini, budget=0)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5692.0" y="1394460.0"/>
            <a:ext cx="73152.0" cy="0.0"/>
          </a:xfrm>
          <a:prstGeom prst="bentConnector3">
            <a:avLst/>
          </a:prstGeom>
          <a:ln w="190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38844" y="1005840"/>
            <a:ext cx="138760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6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E56B1F"/>
                </a:solidFill>
              </a:rPr>
              <a:t>7. Stream</a:t>
            </a:r>
          </a:p>
          <a:p>
            <a:r>
              <a:rPr sz="900">
                <a:solidFill>
                  <a:srgbClr val="333333"/>
                </a:solidFill>
              </a:rPr>
              <a:t>Gemini main answer
generate_content_stream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26446.0" y="1394460.0"/>
            <a:ext cx="73152.0" cy="0.0"/>
          </a:xfrm>
          <a:prstGeom prst="bentConnector3">
            <a:avLst/>
          </a:prstGeom>
          <a:ln w="19050">
            <a:solidFill>
              <a:srgbClr val="0F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99598" y="1005840"/>
            <a:ext cx="1387602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0E7C86"/>
                </a:solidFill>
              </a:rPr>
              <a:t>8. Done</a:t>
            </a:r>
          </a:p>
          <a:p>
            <a:r>
              <a:rPr sz="900">
                <a:solidFill>
                  <a:srgbClr val="333333"/>
                </a:solidFill>
              </a:rPr>
              <a:t>filter_sources_to_cited
+ attach_trace + SSE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1874519"/>
            <a:ext cx="11612880" cy="365760"/>
          </a:xfrm>
          <a:prstGeom prst="roundRect">
            <a:avLst/>
          </a:prstGeom>
          <a:solidFill>
            <a:srgbClr val="EEEEEE"/>
          </a:solidFill>
          <a:ln w="15875">
            <a:solidFill>
              <a:srgbClr val="E56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64008"/>
          <a:lstStyle/>
          <a:p>
            <a:pPr algn="ctr"/>
            <a:r>
              <a:rPr sz="1100" b="1">
                <a:solidFill>
                  <a:srgbClr val="333333"/>
                </a:solidFill>
              </a:rPr>
              <a:t>Parallel thread:  generate_suggestions (Gemini, thinking_budget=0)  starts at step 4 and is joined after step 7 — hides behind the answer stream.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423160"/>
            <a:ext cx="3840480" cy="42519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496312"/>
            <a:ext cx="3566160" cy="2743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400" b="1">
                <a:solidFill>
                  <a:srgbClr val="0E7C86"/>
                </a:solidFill>
              </a:rPr>
              <a:t>Retrieval &amp; Indexing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834640"/>
            <a:ext cx="3566160" cy="379476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Corpus: SEED_DOCUMENTS (.txt + .pdf)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Chunking: langchain_text_splitters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Embeddings: sentence-transformers (local)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Vector store: Chroma (./chroma_db)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Lexical: rank_bm25 (in-process BM25)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Fusion: Reciprocal Rank Fusion (dense + BM25)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Rerank: boosts on target_source_paths / titles /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folders / categories, summary vs detail, exact-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token matches in section names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Three fast-path registries short-circuit retrieval: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section_registry, entity_registry,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document_registry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2423160"/>
            <a:ext cx="3840480" cy="42519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56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2496312"/>
            <a:ext cx="3566160" cy="2743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400" b="1">
                <a:solidFill>
                  <a:srgbClr val="E56B1F"/>
                </a:solidFill>
              </a:rPr>
              <a:t>LLM Layer — Gemini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834640"/>
            <a:ext cx="3566160" cy="379476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Provider: Google Gemini API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SDK: google.genai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Model: gemini-3.1-flash-lite-preview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Calls per request (up to 3):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• plan_query_with_llm — only when retrieval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    is low-confidence; budget=0,  ~3–6 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• Main answer — always (unless fast path);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    streamed via generate_content_stream,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    ~5–10 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• generate_suggestions — parallel thread,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    budget=0, ~4–8 s (hidden by stream)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Retry: 429 / 503 / UNAVAILABLE / timeouts retried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up to 8 attempts with API-supplied delays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4736" y="2423160"/>
            <a:ext cx="3840480" cy="425196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1896" y="2496312"/>
            <a:ext cx="3566160" cy="27432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r>
              <a:rPr sz="1400" b="1">
                <a:solidFill>
                  <a:srgbClr val="0F2A4A"/>
                </a:solidFill>
              </a:rPr>
              <a:t>Stack &amp; Endpoints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834640"/>
            <a:ext cx="3566160" cy="3794760"/>
          </a:xfrm>
          <a:prstGeom prst="rect">
            <a:avLst/>
          </a:prstGeom>
          <a:noFill/>
        </p:spPr>
        <p:txBody>
          <a:bodyPr wrap="square" lIns="45720" tIns="18288">
            <a:spAutoFit/>
          </a:bodyPr>
          <a:lstStyle/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Backend: Python 3.9, Flask, python-dotenv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Frontend: vanilla JS + fetch stream reader,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HTML / CSS templates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Content filter: better_profanity (pre-LLM)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PDF ingestion: pypdf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Analytics: local /dashboard with trace events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Endpoints (Flask):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GET  /                         chat UI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GET  /dashboard                analytics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GET  /dashboard/interactions/&lt;id&gt;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POST /api/chat                 SSE stream: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333333"/>
                </a:solidFill>
              </a:rPr>
              <a:t>•           meta / delta / suggestions /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F2A4A"/>
                </a:solidFill>
              </a:rPr>
              <a:t>RAG over the SSL document corpus  ·  Flask + Chroma + Gemini  ·  Streaming SSE with parallel suggestion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